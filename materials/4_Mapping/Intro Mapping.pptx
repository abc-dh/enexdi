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a46ac1ea3_1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ba46ac1ea3_1_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2ba46ac1ea3_1_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a46ac1ea3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2ba46ac1ea3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a46ac1ea3_1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2ba46ac1ea3_1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a46ac1ea3_1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2ba46ac1ea3_1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a46ac1ea3_1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2ba46ac1ea3_1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ba46ac1ea3_1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2ba46ac1ea3_1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ba46ac1ea3_1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2ba46ac1ea3_1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a46ac1ea3_1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2ba46ac1ea3_1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a46ac1ea3_1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2ba46ac1ea3_1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a46ac1ea3_1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2ba46ac1ea3_1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a46ac1ea3_1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2ba46ac1ea3_1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a46ac1ea3_1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2ba46ac1ea3_1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a46ac1ea3_1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2ba46ac1ea3_1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ba46ac1ea3_1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2ba46ac1ea3_1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a46ac1ea3_1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2ba46ac1ea3_1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a46ac1ea3_1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2ba46ac1ea3_1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a46ac1ea3_1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2ba46ac1ea3_1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ba46ac1ea3_1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2ba46ac1ea3_1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a46ac1ea3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2ba46ac1ea3_1_2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ba46ac1ea3_1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2ba46ac1ea3_1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2ba46ac1ea3_1_2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DBE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giovannipietrovitali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hyperlink" Target="http://leaflet-extras.github.io/leaflet-providers/preview/index.html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hyperlink" Target="https://en.wikipedia.org/wiki/Point_(geometry)" TargetMode="External"/><Relationship Id="rId7" Type="http://schemas.openxmlformats.org/officeDocument/2006/relationships/hyperlink" Target="https://en.wikipedia.org/wiki/Line_(geometry)" TargetMode="External"/><Relationship Id="rId8" Type="http://schemas.openxmlformats.org/officeDocument/2006/relationships/hyperlink" Target="https://en.wikipedia.org/wiki/Polygon" TargetMode="External"/></Relationships>
</file>

<file path=ppt/slides/_rels/slide9.xml.rels><?xml version="1.0" encoding="UTF-8" standalone="yes"?><Relationships xmlns="http://schemas.openxmlformats.org/package/2006/relationships"><Relationship Id="rId40" Type="http://schemas.openxmlformats.org/officeDocument/2006/relationships/hyperlink" Target="https://en.wikipedia.org/wiki/Vector_Product_Format" TargetMode="External"/><Relationship Id="rId20" Type="http://schemas.openxmlformats.org/officeDocument/2006/relationships/hyperlink" Target="https://en.wikipedia.org/wiki/Intergraph" TargetMode="External"/><Relationship Id="rId41" Type="http://schemas.openxmlformats.org/officeDocument/2006/relationships/hyperlink" Target="https://en.wikipedia.org/wiki/National_Geospatial-Intelligence_Agency" TargetMode="External"/><Relationship Id="rId22" Type="http://schemas.openxmlformats.org/officeDocument/2006/relationships/hyperlink" Target="https://en.wikipedia.org/wiki/Microsoft_Access" TargetMode="External"/><Relationship Id="rId21" Type="http://schemas.openxmlformats.org/officeDocument/2006/relationships/hyperlink" Target="https://en.wikipedia.org/wiki/MicroStation" TargetMode="External"/><Relationship Id="rId24" Type="http://schemas.openxmlformats.org/officeDocument/2006/relationships/hyperlink" Target="https://en.wikipedia.org/wiki/OpenGIS" TargetMode="External"/><Relationship Id="rId23" Type="http://schemas.openxmlformats.org/officeDocument/2006/relationships/hyperlink" Target="https://en.wikipedia.org/wiki/Keyhole_Markup_Language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hyperlink" Target="https://en.wikipedia.org/wiki/AutoCAD_DXF" TargetMode="External"/><Relationship Id="rId9" Type="http://schemas.openxmlformats.org/officeDocument/2006/relationships/hyperlink" Target="https://en.wikipedia.org/wiki/Esri_TIN" TargetMode="External"/><Relationship Id="rId26" Type="http://schemas.openxmlformats.org/officeDocument/2006/relationships/hyperlink" Target="https://en.wikipedia.org/wiki/MapInfo_Corporation" TargetMode="External"/><Relationship Id="rId25" Type="http://schemas.openxmlformats.org/officeDocument/2006/relationships/hyperlink" Target="https://en.wikipedia.org/wiki/MapInfo_TAB_format" TargetMode="External"/><Relationship Id="rId28" Type="http://schemas.openxmlformats.org/officeDocument/2006/relationships/hyperlink" Target="https://en.wikipedia.org/wiki/XML" TargetMode="External"/><Relationship Id="rId27" Type="http://schemas.openxmlformats.org/officeDocument/2006/relationships/hyperlink" Target="https://en.wikipedia.org/wiki/Measure_Map_Pro_format" TargetMode="External"/><Relationship Id="rId5" Type="http://schemas.openxmlformats.org/officeDocument/2006/relationships/hyperlink" Target="https://en.wikipedia.org/wiki/AutoCAD" TargetMode="External"/><Relationship Id="rId6" Type="http://schemas.openxmlformats.org/officeDocument/2006/relationships/hyperlink" Target="https://en.wikipedia.org/wiki/Autodesk" TargetMode="External"/><Relationship Id="rId29" Type="http://schemas.openxmlformats.org/officeDocument/2006/relationships/hyperlink" Target="https://en.wikipedia.org/wiki/National_Transfer_Format" TargetMode="External"/><Relationship Id="rId7" Type="http://schemas.openxmlformats.org/officeDocument/2006/relationships/hyperlink" Target="https://en.wikipedia.org/wiki/Cartesian_coordinate_system" TargetMode="External"/><Relationship Id="rId8" Type="http://schemas.openxmlformats.org/officeDocument/2006/relationships/hyperlink" Target="https://en.wikipedia.org/wiki/Digital_line_graph" TargetMode="External"/><Relationship Id="rId31" Type="http://schemas.openxmlformats.org/officeDocument/2006/relationships/hyperlink" Target="https://en.wikipedia.org/wiki/Shapefile" TargetMode="External"/><Relationship Id="rId30" Type="http://schemas.openxmlformats.org/officeDocument/2006/relationships/hyperlink" Target="https://en.wikipedia.org/wiki/Spatialite" TargetMode="External"/><Relationship Id="rId11" Type="http://schemas.openxmlformats.org/officeDocument/2006/relationships/hyperlink" Target="https://en.wikipedia.org/wiki/Triangulated_irregular_network" TargetMode="External"/><Relationship Id="rId33" Type="http://schemas.openxmlformats.org/officeDocument/2006/relationships/hyperlink" Target="https://en.wikipedia.org/wiki/Simple_Features" TargetMode="External"/><Relationship Id="rId10" Type="http://schemas.openxmlformats.org/officeDocument/2006/relationships/hyperlink" Target="https://en.wikipedia.org/wiki/Binary_data" TargetMode="External"/><Relationship Id="rId32" Type="http://schemas.openxmlformats.org/officeDocument/2006/relationships/hyperlink" Target="https://en.wikipedia.org/wiki/Esri" TargetMode="External"/><Relationship Id="rId13" Type="http://schemas.openxmlformats.org/officeDocument/2006/relationships/hyperlink" Target="https://en.wikipedia.org/wiki/Geography_Markup_Language" TargetMode="External"/><Relationship Id="rId35" Type="http://schemas.openxmlformats.org/officeDocument/2006/relationships/hyperlink" Target="https://en.wikipedia.org/wiki/SOSI" TargetMode="External"/><Relationship Id="rId12" Type="http://schemas.openxmlformats.org/officeDocument/2006/relationships/hyperlink" Target="https://en.wikipedia.org/wiki/Esri" TargetMode="External"/><Relationship Id="rId34" Type="http://schemas.openxmlformats.org/officeDocument/2006/relationships/hyperlink" Target="https://en.wikipedia.org/wiki/Open_Geospatial_Consortium" TargetMode="External"/><Relationship Id="rId15" Type="http://schemas.openxmlformats.org/officeDocument/2006/relationships/hyperlink" Target="https://en.wikipedia.org/wiki/GeoJSON" TargetMode="External"/><Relationship Id="rId37" Type="http://schemas.openxmlformats.org/officeDocument/2006/relationships/hyperlink" Target="https://en.wikipedia.org/wiki/Autodesk" TargetMode="External"/><Relationship Id="rId14" Type="http://schemas.openxmlformats.org/officeDocument/2006/relationships/hyperlink" Target="https://en.wikipedia.org/wiki/OpenGIS" TargetMode="External"/><Relationship Id="rId36" Type="http://schemas.openxmlformats.org/officeDocument/2006/relationships/hyperlink" Target="https://en.wikipedia.org/wiki/Spatial_Data_File" TargetMode="External"/><Relationship Id="rId17" Type="http://schemas.openxmlformats.org/officeDocument/2006/relationships/hyperlink" Target="https://en.wikipedia.org/wiki/GeoMedia" TargetMode="External"/><Relationship Id="rId39" Type="http://schemas.openxmlformats.org/officeDocument/2006/relationships/hyperlink" Target="https://en.wikipedia.org/wiki/TIGER" TargetMode="External"/><Relationship Id="rId16" Type="http://schemas.openxmlformats.org/officeDocument/2006/relationships/hyperlink" Target="https://en.wikipedia.org/wiki/JSON" TargetMode="External"/><Relationship Id="rId38" Type="http://schemas.openxmlformats.org/officeDocument/2006/relationships/hyperlink" Target="https://en.wikipedia.org/wiki/MapGuide" TargetMode="External"/><Relationship Id="rId19" Type="http://schemas.openxmlformats.org/officeDocument/2006/relationships/hyperlink" Target="https://en.wikipedia.org/wiki/Microsoft_Access" TargetMode="External"/><Relationship Id="rId18" Type="http://schemas.openxmlformats.org/officeDocument/2006/relationships/hyperlink" Target="https://en.wikipedia.org/wiki/Intergraph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hyperlink" Target="https://en.wikipedia.org/wiki/JSON" TargetMode="External"/><Relationship Id="rId9" Type="http://schemas.openxmlformats.org/officeDocument/2006/relationships/image" Target="../media/image23.png"/><Relationship Id="rId5" Type="http://schemas.openxmlformats.org/officeDocument/2006/relationships/hyperlink" Target="https://en.wikipedia.org/wiki/OpenGIS" TargetMode="External"/><Relationship Id="rId6" Type="http://schemas.openxmlformats.org/officeDocument/2006/relationships/hyperlink" Target="https://en.wikipedia.org/wiki/Esri" TargetMode="External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9" Type="http://schemas.openxmlformats.org/officeDocument/2006/relationships/hyperlink" Target="https://en.wikipedia.org/wiki/Esri" TargetMode="External"/><Relationship Id="rId5" Type="http://schemas.openxmlformats.org/officeDocument/2006/relationships/image" Target="../media/image34.png"/><Relationship Id="rId6" Type="http://schemas.openxmlformats.org/officeDocument/2006/relationships/hyperlink" Target="https://en.wikipedia.org/wiki/Esri_grid" TargetMode="External"/><Relationship Id="rId7" Type="http://schemas.openxmlformats.org/officeDocument/2006/relationships/hyperlink" Target="https://en.wikipedia.org/wiki/Binary_data" TargetMode="External"/><Relationship Id="rId8" Type="http://schemas.openxmlformats.org/officeDocument/2006/relationships/hyperlink" Target="https://en.wikipedia.org/wiki/ASCII" TargetMode="External"/><Relationship Id="rId11" Type="http://schemas.openxmlformats.org/officeDocument/2006/relationships/hyperlink" Target="https://en.wikipedia.org/wiki/TIFF" TargetMode="External"/><Relationship Id="rId10" Type="http://schemas.openxmlformats.org/officeDocument/2006/relationships/hyperlink" Target="https://en.wikipedia.org/wiki/GeoTIFF" TargetMode="External"/><Relationship Id="rId13" Type="http://schemas.openxmlformats.org/officeDocument/2006/relationships/hyperlink" Target="https://en.wikipedia.org/wiki/JPEG2000" TargetMode="External"/><Relationship Id="rId12" Type="http://schemas.openxmlformats.org/officeDocument/2006/relationships/hyperlink" Target="https://en.wikipedia.org/wiki/ERDAS_IMAGINE" TargetMode="External"/><Relationship Id="rId15" Type="http://schemas.openxmlformats.org/officeDocument/2006/relationships/hyperlink" Target="https://en.wikipedia.org/wiki/GeoTIFF" TargetMode="External"/><Relationship Id="rId14" Type="http://schemas.openxmlformats.org/officeDocument/2006/relationships/hyperlink" Target="https://en.wikipedia.org/wiki/MrSID" TargetMode="External"/><Relationship Id="rId16" Type="http://schemas.openxmlformats.org/officeDocument/2006/relationships/hyperlink" Target="https://en.wikipedia.org/wiki/TIF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image" Target="../media/image22.gif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6.gif"/><Relationship Id="rId5" Type="http://schemas.openxmlformats.org/officeDocument/2006/relationships/image" Target="../media/image21.png"/><Relationship Id="rId6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hyperlink" Target="https://en.wikipedia.org/wiki/JSON" TargetMode="External"/><Relationship Id="rId6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hyperlink" Target="https://en.wikipedia.org/wiki/OpenGIS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hyperlink" Target="https://en.wikipedia.org/wiki/Esri" TargetMode="External"/><Relationship Id="rId5" Type="http://schemas.openxmlformats.org/officeDocument/2006/relationships/image" Target="../media/image23.png"/><Relationship Id="rId6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it.ly/atlas_repression_github" TargetMode="External"/><Relationship Id="rId4" Type="http://schemas.openxmlformats.org/officeDocument/2006/relationships/hyperlink" Target="https://bit.ly/atlas_article" TargetMode="External"/><Relationship Id="rId9" Type="http://schemas.openxmlformats.org/officeDocument/2006/relationships/hyperlink" Target="https://gadm.org/" TargetMode="External"/><Relationship Id="rId5" Type="http://schemas.openxmlformats.org/officeDocument/2006/relationships/hyperlink" Target="https://bit.ly/atlas_repression" TargetMode="External"/><Relationship Id="rId6" Type="http://schemas.openxmlformats.org/officeDocument/2006/relationships/hyperlink" Target="https://bit.ly/french_theatre_17_github" TargetMode="External"/><Relationship Id="rId7" Type="http://schemas.openxmlformats.org/officeDocument/2006/relationships/hyperlink" Target="https://bit.ly/theatre_of_places" TargetMode="External"/><Relationship Id="rId8" Type="http://schemas.openxmlformats.org/officeDocument/2006/relationships/hyperlink" Target="https://bit.ly/french_theatre_17" TargetMode="External"/><Relationship Id="rId11" Type="http://schemas.openxmlformats.org/officeDocument/2006/relationships/hyperlink" Target="https://mygeodata.cloud/" TargetMode="External"/><Relationship Id="rId10" Type="http://schemas.openxmlformats.org/officeDocument/2006/relationships/hyperlink" Target="https://geojson.io/" TargetMode="External"/><Relationship Id="rId12" Type="http://schemas.openxmlformats.org/officeDocument/2006/relationships/hyperlink" Target="https://bit.ly/pizza_map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giovannipietrovitali@gmail.com" TargetMode="External"/><Relationship Id="rId4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idx="1" type="subTitle"/>
          </p:nvPr>
        </p:nvSpPr>
        <p:spPr>
          <a:xfrm>
            <a:off x="3513600" y="3088650"/>
            <a:ext cx="49899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it" sz="3600">
                <a:solidFill>
                  <a:srgbClr val="C00000"/>
                </a:solidFill>
              </a:rPr>
              <a:t>Intro to Mapping</a:t>
            </a:r>
            <a:endParaRPr sz="2400">
              <a:solidFill>
                <a:srgbClr val="C00000"/>
              </a:solidFill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6118799" y="4482175"/>
            <a:ext cx="2937376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it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Giovanni Pietro Vitali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6118799" y="4858450"/>
            <a:ext cx="2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giovannipietrovitali@gmail.com</a:t>
            </a: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9038" y="71353"/>
            <a:ext cx="6858924" cy="9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9450" y="1090738"/>
            <a:ext cx="2637763" cy="2618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2777" y="1794552"/>
            <a:ext cx="1470425" cy="149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1025" y="1197511"/>
            <a:ext cx="2842975" cy="283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/>
        </p:nvSpPr>
        <p:spPr>
          <a:xfrm>
            <a:off x="210125" y="3784975"/>
            <a:ext cx="21186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Representing geographical 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6754000" y="3953125"/>
            <a:ext cx="2118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managing complex contents.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3418688" y="3953125"/>
            <a:ext cx="2118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 coordinates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2355700" y="4251400"/>
            <a:ext cx="1129200" cy="33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5581050" y="4251400"/>
            <a:ext cx="1129200" cy="33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>
            <a:off x="3025600" y="1016600"/>
            <a:ext cx="6118500" cy="3220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/>
        </p:nvSpPr>
        <p:spPr>
          <a:xfrm>
            <a:off x="2251200" y="361900"/>
            <a:ext cx="464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should a digital cartographer do?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21375" y="1547225"/>
            <a:ext cx="1536300" cy="2202300"/>
          </a:xfrm>
          <a:prstGeom prst="rightArrow">
            <a:avLst>
              <a:gd fmla="val 50000" name="adj1"/>
              <a:gd fmla="val 494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Collection and prior analysis of documents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3069375" y="1547225"/>
            <a:ext cx="1536300" cy="22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6145625" y="1547225"/>
            <a:ext cx="1536300" cy="22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1597575" y="2005400"/>
            <a:ext cx="1331700" cy="133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CORPUS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4645875" y="1916900"/>
            <a:ext cx="1420200" cy="142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7696375" y="1905288"/>
            <a:ext cx="1420200" cy="1419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22" y="152399"/>
            <a:ext cx="8873860" cy="471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01" y="118510"/>
            <a:ext cx="2457450" cy="49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3688" y="868086"/>
            <a:ext cx="3095625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0"/>
          <p:cNvSpPr/>
          <p:nvPr/>
        </p:nvSpPr>
        <p:spPr>
          <a:xfrm>
            <a:off x="3195025" y="169425"/>
            <a:ext cx="1573200" cy="4696200"/>
          </a:xfrm>
          <a:prstGeom prst="rightBrace">
            <a:avLst>
              <a:gd fmla="val 33848" name="adj1"/>
              <a:gd fmla="val 50372" name="adj2"/>
            </a:avLst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0"/>
          <p:cNvSpPr txBox="1"/>
          <p:nvPr>
            <p:ph idx="4294967295" type="ctrTitle"/>
          </p:nvPr>
        </p:nvSpPr>
        <p:spPr>
          <a:xfrm>
            <a:off x="4067825" y="3949375"/>
            <a:ext cx="48774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key concept in GIS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(Geographic Information System)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0"/>
          <p:cNvSpPr txBox="1"/>
          <p:nvPr>
            <p:ph idx="4294967295" type="ctrTitle"/>
          </p:nvPr>
        </p:nvSpPr>
        <p:spPr>
          <a:xfrm>
            <a:off x="5155825" y="361900"/>
            <a:ext cx="23961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LAYER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059" y="2129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>
            <p:ph idx="4294967295" type="ctrTitle"/>
          </p:nvPr>
        </p:nvSpPr>
        <p:spPr>
          <a:xfrm>
            <a:off x="6184525" y="3702150"/>
            <a:ext cx="23961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 txBox="1"/>
          <p:nvPr/>
        </p:nvSpPr>
        <p:spPr>
          <a:xfrm>
            <a:off x="3679075" y="4126875"/>
            <a:ext cx="536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http://leaflet-extras.github.io/leaflet-providers/preview/index.html</a:t>
            </a: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2"/>
          <p:cNvSpPr txBox="1"/>
          <p:nvPr>
            <p:ph idx="4294967295" type="ctrTitle"/>
          </p:nvPr>
        </p:nvSpPr>
        <p:spPr>
          <a:xfrm>
            <a:off x="7129475" y="3717675"/>
            <a:ext cx="1743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BASEMAP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000" y="361902"/>
            <a:ext cx="4178066" cy="351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1525" y="1619950"/>
            <a:ext cx="2506925" cy="25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7988" y="654604"/>
            <a:ext cx="2454200" cy="86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9804" y="1691978"/>
            <a:ext cx="3390575" cy="2716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/>
        </p:nvSpPr>
        <p:spPr>
          <a:xfrm>
            <a:off x="0" y="532250"/>
            <a:ext cx="54780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it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Points</a:t>
            </a:r>
            <a:endParaRPr b="0" i="0" sz="18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Zero-dimensional points are used for geographical features that can best be expressed by a single point reference.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it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Lines</a:t>
            </a:r>
            <a:r>
              <a:rPr b="0" i="0" lang="it" sz="18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or polylines</a:t>
            </a:r>
            <a:endParaRPr b="0" i="0" sz="1800" u="none" cap="none" strike="noStrike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One-dimensional lines or polylines are used for linear features such as rivers, roads, railroads, trails, and topographic lines.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it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Polygons</a:t>
            </a:r>
            <a:endParaRPr b="0" i="0" sz="18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Two-dimensional polygons are used for geographical features that cover a particular area of the earth's surface.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4"/>
          <p:cNvSpPr txBox="1"/>
          <p:nvPr/>
        </p:nvSpPr>
        <p:spPr>
          <a:xfrm>
            <a:off x="738775" y="-11100"/>
            <a:ext cx="7896342" cy="53111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AutoCAD DXF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contour elevation plots in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AutoCAD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DXF format (by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Autodesk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Cartesian coordinate system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(XYZ) – simple point cloud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Digital line graph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(DLG) – a USGS format for vector data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Esri TIN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- proprietary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binary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format for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triangulated irregular network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data usedby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Esri</a:t>
            </a:r>
            <a:endParaRPr b="0" i="0" sz="8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Geography Markup Language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(GML) – XML based open standard (by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OpenGIS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 for GIS data exchange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5"/>
              </a:rPr>
              <a:t>GeoJSON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a lightweight format based on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JSON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, used by many open source GIS packages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  <a:t>GeoMedia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Intergraph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's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Microsoft Access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based format for spatial vector storage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ISFC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Intergraph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's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MicroStation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based CAD solution attaching vector elements to a relational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Microsoft Access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database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3"/>
              </a:rPr>
              <a:t>Keyhole Markup Language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(KML) – XML based open standard (by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OpenGIS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 for GIS data exchange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MapInfo TAB format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MapInfo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's vector data format using TAB, DAT, ID and MAP files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Measure Map Pro format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XML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data format to store GIS data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9"/>
              </a:rPr>
              <a:t>National Transfer Format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(NTF) – National Transfer Format (mostly used by the UK Ordnance Survey)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0"/>
              </a:rPr>
              <a:t>Spatialite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is a spatial extension to SQLite, providing vector geodatabasefunctionality. It is similar to PostGIS, Oracle Spatial, and SQL Server with spatialextensions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1"/>
              </a:rPr>
              <a:t>Shapefile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a popular vector data GIS format, developed by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2"/>
              </a:rPr>
              <a:t>Esri</a:t>
            </a:r>
            <a:endParaRPr b="0" i="0" sz="8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3"/>
              </a:rPr>
              <a:t>Simple Features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4"/>
              </a:rPr>
              <a:t>Open Geospatial Consortium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specification for vector data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5"/>
              </a:rPr>
              <a:t>SOSI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a spatial data format used for all public exchange of spatial data in Norway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6"/>
              </a:rPr>
              <a:t>Spatial Data File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7"/>
              </a:rPr>
              <a:t>Autodesk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's high-performance geodatabase format, native to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8"/>
              </a:rPr>
              <a:t>MapGuide</a:t>
            </a:r>
            <a:endParaRPr b="0" i="0" sz="8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9"/>
              </a:rPr>
              <a:t>TIGER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– Topologically Integrated Geographic Encoding and Referencing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9BAFB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0"/>
              </a:rPr>
              <a:t>Vector Product Format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(VPF) – </a:t>
            </a:r>
            <a:r>
              <a:rPr b="0" i="0" lang="it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1"/>
              </a:rPr>
              <a:t>National Geospatial-Intelligence Agency</a:t>
            </a:r>
            <a:r>
              <a:rPr b="0" i="0" lang="it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(NGA)'sformat of vectored data for large geographic databases</a:t>
            </a:r>
            <a:endParaRPr b="0" i="0" sz="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717775" y="1271000"/>
            <a:ext cx="8475000" cy="2449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GeoJSON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 lightweight format based on </a:t>
            </a:r>
            <a:r>
              <a:rPr b="0" i="0" lang="it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JSON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used by many open source GIS packages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Keyhole Markup Language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(KML) – XML based open standard (by </a:t>
            </a:r>
            <a:r>
              <a:rPr b="0" i="0" lang="it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OpenGIS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for GIS data exchange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Shapefile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 popular vector data GIS format, developed by </a:t>
            </a:r>
            <a:r>
              <a:rPr b="0" i="0" lang="it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Esri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98" y="1602756"/>
            <a:ext cx="532250" cy="5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1800" y="2495935"/>
            <a:ext cx="401045" cy="4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1800" y="3184996"/>
            <a:ext cx="401050" cy="466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/>
          <p:nvPr/>
        </p:nvSpPr>
        <p:spPr>
          <a:xfrm>
            <a:off x="7297378" y="4865825"/>
            <a:ext cx="174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Distant Reading in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4208" y="1985600"/>
            <a:ext cx="3156166" cy="272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8589" y="1010311"/>
            <a:ext cx="1987400" cy="6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/>
          <p:nvPr/>
        </p:nvSpPr>
        <p:spPr>
          <a:xfrm>
            <a:off x="0" y="843725"/>
            <a:ext cx="58842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Esri grid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– proprietary </a:t>
            </a: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binary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and metadataless </a:t>
            </a: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ASCII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raster formats used by </a:t>
            </a: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Esri</a:t>
            </a:r>
            <a:endParaRPr b="0" i="0" sz="14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GeoTIFF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TIFF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variant enriched with GIS relevant metadata</a:t>
            </a:r>
            <a:endParaRPr b="0" i="0" sz="1400" u="none" cap="none" strike="noStrike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IMG – </a:t>
            </a: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ERDAS IMAGINE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image file format</a:t>
            </a:r>
            <a:endParaRPr b="0" i="0" sz="1400" u="none" cap="none" strike="noStrike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JPEG2000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– Open-source raster format. A compressed format, allows both lossyand lossless compression.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MrSID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– Multi-Resolution Seamless Image Database (by Lizardtech). A compressed wavelet format, allows both lossy and lossless compression.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5"/>
              </a:rPr>
              <a:t>GeoTIFF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TIFF</a:t>
            </a:r>
            <a:r>
              <a:rPr b="0" i="0" lang="it" sz="14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 variant enriched with GIS relevant metadata</a:t>
            </a:r>
            <a:endParaRPr b="0" i="0" sz="1400" u="none" cap="none" strike="noStrike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7"/>
          <p:cNvSpPr txBox="1"/>
          <p:nvPr/>
        </p:nvSpPr>
        <p:spPr>
          <a:xfrm>
            <a:off x="5605000" y="2383575"/>
            <a:ext cx="3267600" cy="20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it" sz="2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Microsoft Excel</a:t>
            </a:r>
            <a:endParaRPr b="0" i="0" sz="21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it" sz="2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OpenOffice spreadsheet</a:t>
            </a:r>
            <a:endParaRPr b="0" i="0" sz="21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it" sz="2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OpenRefine</a:t>
            </a:r>
            <a:endParaRPr b="0" i="0" sz="21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it" sz="2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Plan texts softwares</a:t>
            </a:r>
            <a:endParaRPr b="0" i="0" sz="21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5450" y="2459777"/>
            <a:ext cx="409225" cy="4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5450" y="2915825"/>
            <a:ext cx="440125" cy="43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1375" y="3439051"/>
            <a:ext cx="440114" cy="4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65450" y="3938858"/>
            <a:ext cx="409225" cy="4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7725" y="867924"/>
            <a:ext cx="35814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684661"/>
            <a:ext cx="4332277" cy="430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84650"/>
            <a:ext cx="8720200" cy="4183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" y="2571750"/>
            <a:ext cx="8720200" cy="15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" y="4084650"/>
            <a:ext cx="8720200" cy="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49125" y="0"/>
            <a:ext cx="2974338" cy="5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706425"/>
            <a:ext cx="5769699" cy="343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0038" y="532250"/>
            <a:ext cx="4980325" cy="14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450" y="532256"/>
            <a:ext cx="2880875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/>
          <p:nvPr/>
        </p:nvSpPr>
        <p:spPr>
          <a:xfrm>
            <a:off x="7297378" y="4865825"/>
            <a:ext cx="174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Distant Reading in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 txBox="1"/>
          <p:nvPr/>
        </p:nvSpPr>
        <p:spPr>
          <a:xfrm>
            <a:off x="2287350" y="476450"/>
            <a:ext cx="6522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highlight>
                  <a:srgbClr val="C00000"/>
                </a:highlight>
                <a:latin typeface="Arial"/>
                <a:ea typeface="Arial"/>
                <a:cs typeface="Arial"/>
                <a:sym typeface="Arial"/>
              </a:rPr>
              <a:t>CSV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 comma-separated values (CSV) file is a delimited text file that uses a comma to separate values. Each line of the file is a data record. Each record consists of one or more fields, separated by commas.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3950" y="618675"/>
            <a:ext cx="549650" cy="6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825" y="1419050"/>
            <a:ext cx="8119977" cy="33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6298" y="228775"/>
            <a:ext cx="818450" cy="81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1"/>
          <p:cNvSpPr txBox="1"/>
          <p:nvPr/>
        </p:nvSpPr>
        <p:spPr>
          <a:xfrm>
            <a:off x="3094750" y="304975"/>
            <a:ext cx="4541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highlight>
                  <a:srgbClr val="C00000"/>
                </a:highlight>
                <a:latin typeface="Arial"/>
                <a:ea typeface="Arial"/>
                <a:cs typeface="Arial"/>
                <a:sym typeface="Arial"/>
              </a:rPr>
              <a:t>GeoJSON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 lightweight format based on </a:t>
            </a:r>
            <a:r>
              <a:rPr b="0" i="0" lang="it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JSON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used by many open source GIS packages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00" y="1389125"/>
            <a:ext cx="9006976" cy="266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2"/>
          <p:cNvSpPr txBox="1"/>
          <p:nvPr/>
        </p:nvSpPr>
        <p:spPr>
          <a:xfrm>
            <a:off x="2359950" y="239500"/>
            <a:ext cx="5385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highlight>
                  <a:srgbClr val="C00000"/>
                </a:highlight>
                <a:latin typeface="Arial"/>
                <a:ea typeface="Arial"/>
                <a:cs typeface="Arial"/>
                <a:sym typeface="Arial"/>
              </a:rPr>
              <a:t>Keyhole Markup Language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(KML) – XML based open standard (by </a:t>
            </a:r>
            <a:r>
              <a:rPr b="0" i="0" lang="it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OpenGIS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for GIS data exchange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2011" y="303038"/>
            <a:ext cx="575490" cy="58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8899" y="1030000"/>
            <a:ext cx="8261473" cy="37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610" y="4868585"/>
            <a:ext cx="271389" cy="2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3"/>
          <p:cNvSpPr txBox="1"/>
          <p:nvPr/>
        </p:nvSpPr>
        <p:spPr>
          <a:xfrm>
            <a:off x="3095650" y="361900"/>
            <a:ext cx="5229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highlight>
                  <a:srgbClr val="C00000"/>
                </a:highlight>
                <a:latin typeface="Arial"/>
                <a:ea typeface="Arial"/>
                <a:cs typeface="Arial"/>
                <a:sym typeface="Arial"/>
              </a:rPr>
              <a:t>Shapefile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 popular vector data GIS format, developed by </a:t>
            </a:r>
            <a:r>
              <a:rPr b="0" i="0" lang="it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Esri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6200" y="361900"/>
            <a:ext cx="518650" cy="6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254900"/>
            <a:ext cx="9144003" cy="14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628650" y="-13167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"/>
              <a:t>Examples:</a:t>
            </a:r>
            <a:endParaRPr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628650" y="797704"/>
            <a:ext cx="78867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304165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6667"/>
              <a:buChar char="•"/>
            </a:pPr>
            <a:r>
              <a:rPr lang="it"/>
              <a:t>Atlas Nazi-Fascist Repression</a:t>
            </a:r>
            <a:endParaRPr/>
          </a:p>
          <a:p>
            <a:pPr indent="-304165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•"/>
            </a:pPr>
            <a:r>
              <a:rPr lang="it"/>
              <a:t>Github: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https://bit.ly/atlas_repression_github</a:t>
            </a:r>
            <a:r>
              <a:rPr lang="it"/>
              <a:t> </a:t>
            </a:r>
            <a:endParaRPr/>
          </a:p>
          <a:p>
            <a:pPr indent="-304165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•"/>
            </a:pPr>
            <a:r>
              <a:rPr lang="it"/>
              <a:t>Article: </a:t>
            </a:r>
            <a:r>
              <a:rPr lang="it" u="sng">
                <a:solidFill>
                  <a:schemeClr val="hlink"/>
                </a:solidFill>
                <a:hlinkClick r:id="rId4"/>
              </a:rPr>
              <a:t>https://bit.ly/atlas_article</a:t>
            </a:r>
            <a:r>
              <a:rPr lang="it"/>
              <a:t> </a:t>
            </a:r>
            <a:endParaRPr/>
          </a:p>
          <a:p>
            <a:pPr indent="-304165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•"/>
            </a:pPr>
            <a:r>
              <a:rPr lang="it"/>
              <a:t>Map: </a:t>
            </a:r>
            <a:r>
              <a:rPr lang="it" u="sng">
                <a:solidFill>
                  <a:schemeClr val="hlink"/>
                </a:solidFill>
                <a:hlinkClick r:id="rId5"/>
              </a:rPr>
              <a:t>https://bit.ly/atlas_repression</a:t>
            </a:r>
            <a:r>
              <a:rPr lang="it"/>
              <a:t> </a:t>
            </a:r>
            <a:endParaRPr/>
          </a:p>
          <a:p>
            <a:pPr indent="0" lvl="1" marL="596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/>
          </a:p>
          <a:p>
            <a:pPr indent="-304165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6667"/>
              <a:buChar char="•"/>
            </a:pPr>
            <a:r>
              <a:rPr lang="it"/>
              <a:t>French Theatre 17th century </a:t>
            </a:r>
            <a:endParaRPr/>
          </a:p>
          <a:p>
            <a:pPr indent="-304165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•"/>
            </a:pPr>
            <a:r>
              <a:rPr lang="it"/>
              <a:t>Github: </a:t>
            </a:r>
            <a:r>
              <a:rPr lang="it" u="sng">
                <a:solidFill>
                  <a:schemeClr val="hlink"/>
                </a:solidFill>
                <a:hlinkClick r:id="rId6"/>
              </a:rPr>
              <a:t>https://bit.ly/french_theatre_17_github</a:t>
            </a:r>
            <a:r>
              <a:rPr lang="it"/>
              <a:t> </a:t>
            </a:r>
            <a:endParaRPr/>
          </a:p>
          <a:p>
            <a:pPr indent="-304165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•"/>
            </a:pPr>
            <a:r>
              <a:rPr lang="it"/>
              <a:t>Artile: </a:t>
            </a:r>
            <a:r>
              <a:rPr lang="it" u="sng">
                <a:solidFill>
                  <a:schemeClr val="hlink"/>
                </a:solidFill>
                <a:hlinkClick r:id="rId7"/>
              </a:rPr>
              <a:t>https://bit.ly/theatre_of_places</a:t>
            </a:r>
            <a:r>
              <a:rPr lang="it"/>
              <a:t> </a:t>
            </a:r>
            <a:endParaRPr/>
          </a:p>
          <a:p>
            <a:pPr indent="-304165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•"/>
            </a:pPr>
            <a:r>
              <a:rPr lang="it"/>
              <a:t>Map: </a:t>
            </a:r>
            <a:r>
              <a:rPr lang="it" u="sng">
                <a:solidFill>
                  <a:schemeClr val="hlink"/>
                </a:solidFill>
                <a:hlinkClick r:id="rId8"/>
              </a:rPr>
              <a:t>https://bit.ly/french_theatre_17</a:t>
            </a:r>
            <a:r>
              <a:rPr lang="it"/>
              <a:t> 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66667"/>
              <a:buNone/>
            </a:pPr>
            <a:r>
              <a:t/>
            </a:r>
            <a:endParaRPr/>
          </a:p>
        </p:txBody>
      </p:sp>
      <p:sp>
        <p:nvSpPr>
          <p:cNvPr id="296" name="Google Shape;296;p44"/>
          <p:cNvSpPr txBox="1"/>
          <p:nvPr/>
        </p:nvSpPr>
        <p:spPr>
          <a:xfrm>
            <a:off x="628650" y="28732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it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</a:t>
            </a:r>
            <a:endParaRPr/>
          </a:p>
        </p:txBody>
      </p:sp>
      <p:sp>
        <p:nvSpPr>
          <p:cNvPr id="297" name="Google Shape;297;p44"/>
          <p:cNvSpPr txBox="1"/>
          <p:nvPr/>
        </p:nvSpPr>
        <p:spPr>
          <a:xfrm>
            <a:off x="628650" y="3867427"/>
            <a:ext cx="76329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15657" lvl="0" marL="45720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71"/>
              <a:buFont typeface="Arial"/>
              <a:buChar char="•"/>
            </a:pPr>
            <a:r>
              <a:rPr b="0" i="0" lang="it" sz="164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GADM: </a:t>
            </a:r>
            <a:r>
              <a:rPr b="0" i="0" lang="it" sz="1643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https://gadm.org</a:t>
            </a:r>
            <a:r>
              <a:rPr b="0" i="0" lang="it" sz="164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899" lvl="0" marL="45720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43"/>
              <a:buChar char="•"/>
            </a:pPr>
            <a:r>
              <a:rPr lang="it" sz="1643">
                <a:solidFill>
                  <a:schemeClr val="dk1"/>
                </a:solidFill>
              </a:rPr>
              <a:t>Data editor (Geojson): </a:t>
            </a:r>
            <a:r>
              <a:rPr lang="it" sz="1643" u="sng">
                <a:solidFill>
                  <a:schemeClr val="hlink"/>
                </a:solidFill>
                <a:hlinkClick r:id="rId10"/>
              </a:rPr>
              <a:t>https://geojson.io/</a:t>
            </a:r>
            <a:r>
              <a:rPr lang="it" sz="1643">
                <a:solidFill>
                  <a:schemeClr val="dk1"/>
                </a:solidFill>
              </a:rPr>
              <a:t> </a:t>
            </a:r>
            <a:endParaRPr sz="1643">
              <a:solidFill>
                <a:schemeClr val="dk1"/>
              </a:solidFill>
            </a:endParaRPr>
          </a:p>
          <a:p>
            <a:pPr indent="-315657" lvl="0" marL="45720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71"/>
              <a:buFont typeface="Arial"/>
              <a:buChar char="•"/>
            </a:pPr>
            <a:r>
              <a:rPr b="0" i="0" lang="it" sz="164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GeoFile Data Converter: </a:t>
            </a:r>
            <a:r>
              <a:rPr b="0" i="0" lang="it" sz="1643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https://mygeodata.cloud</a:t>
            </a:r>
            <a:r>
              <a:rPr b="0" i="0" lang="it" sz="164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899" lvl="0" marL="45720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43"/>
              <a:buChar char="•"/>
            </a:pPr>
            <a:r>
              <a:rPr lang="it" sz="1643">
                <a:solidFill>
                  <a:schemeClr val="dk1"/>
                </a:solidFill>
              </a:rPr>
              <a:t>Data: </a:t>
            </a:r>
            <a:r>
              <a:rPr lang="it" sz="1643" u="sng">
                <a:solidFill>
                  <a:schemeClr val="hlink"/>
                </a:solidFill>
                <a:hlinkClick r:id="rId12"/>
              </a:rPr>
              <a:t>https://bit.ly/pizza_map</a:t>
            </a:r>
            <a:r>
              <a:rPr lang="it" sz="1643">
                <a:solidFill>
                  <a:schemeClr val="dk1"/>
                </a:solidFill>
              </a:rPr>
              <a:t> </a:t>
            </a:r>
            <a:endParaRPr sz="1643">
              <a:solidFill>
                <a:schemeClr val="dk1"/>
              </a:solidFill>
            </a:endParaRPr>
          </a:p>
          <a:p>
            <a:pPr indent="0" lvl="0" marL="13970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71"/>
              <a:buFont typeface="Arial"/>
              <a:buNone/>
            </a:pPr>
            <a:r>
              <a:t/>
            </a:r>
            <a:endParaRPr b="0" i="0" sz="16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4"/>
          <p:cNvSpPr txBox="1"/>
          <p:nvPr/>
        </p:nvSpPr>
        <p:spPr>
          <a:xfrm>
            <a:off x="5589975" y="2846975"/>
            <a:ext cx="342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Token mapbox: </a:t>
            </a:r>
            <a:r>
              <a:rPr lang="it"/>
              <a:t>pk.eyJ1Ijoia29pbmU4MiIsImEiOiJjbGdmNXJ1aGEwY2JkM3NtdnhzdnNub3VuIn0.j1UBu01cmvGR5XU3RLXZAA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idx="1" type="subTitle"/>
          </p:nvPr>
        </p:nvSpPr>
        <p:spPr>
          <a:xfrm>
            <a:off x="3513600" y="3088650"/>
            <a:ext cx="49899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it" sz="3600">
                <a:solidFill>
                  <a:srgbClr val="C00000"/>
                </a:solidFill>
              </a:rPr>
              <a:t>Intro to Mapping</a:t>
            </a:r>
            <a:endParaRPr sz="2400">
              <a:solidFill>
                <a:srgbClr val="C00000"/>
              </a:solidFill>
            </a:endParaRPr>
          </a:p>
        </p:txBody>
      </p:sp>
      <p:sp>
        <p:nvSpPr>
          <p:cNvPr id="305" name="Google Shape;305;p45"/>
          <p:cNvSpPr/>
          <p:nvPr/>
        </p:nvSpPr>
        <p:spPr>
          <a:xfrm>
            <a:off x="6118799" y="4482175"/>
            <a:ext cx="2937376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it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Giovanni Pietro Vitali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5"/>
          <p:cNvSpPr/>
          <p:nvPr/>
        </p:nvSpPr>
        <p:spPr>
          <a:xfrm>
            <a:off x="6118799" y="4858450"/>
            <a:ext cx="2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giovannipietrovitali@gmail.com</a:t>
            </a: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5800" y="3277550"/>
            <a:ext cx="1144576" cy="114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